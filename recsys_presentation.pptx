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5"/>
  </p:normalViewPr>
  <p:slideViewPr>
    <p:cSldViewPr snapToGrid="0" snapToObjects="1">
      <p:cViewPr varScale="1">
        <p:scale>
          <a:sx n="148" d="100"/>
          <a:sy n="148" d="100"/>
        </p:scale>
        <p:origin x="60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 dirty="0" err="1">
                <a:solidFill>
                  <a:srgbClr val="FFFFFF"/>
                </a:solidFill>
                <a:latin typeface="Calibri"/>
              </a:rPr>
              <a:t>Рекомендательная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Calibri"/>
              </a:rPr>
              <a:t>система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4400" b="1" i="0" dirty="0" err="1">
                <a:solidFill>
                  <a:srgbClr val="FFFFFF"/>
                </a:solidFill>
                <a:latin typeface="Calibri"/>
              </a:rPr>
              <a:t>для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Calibri"/>
              </a:rPr>
              <a:t>интернет-магазина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 dirty="0" err="1">
                <a:solidFill>
                  <a:srgbClr val="85C1E9"/>
                </a:solidFill>
                <a:latin typeface="Calibri"/>
              </a:rPr>
              <a:t>Увеличение</a:t>
            </a:r>
            <a:r>
              <a:rPr sz="3200" b="0" i="0" dirty="0">
                <a:solidFill>
                  <a:srgbClr val="85C1E9"/>
                </a:solidFill>
                <a:latin typeface="Calibri"/>
              </a:rPr>
              <a:t> </a:t>
            </a:r>
            <a:r>
              <a:rPr sz="3200" b="0" i="0" dirty="0" err="1">
                <a:solidFill>
                  <a:srgbClr val="85C1E9"/>
                </a:solidFill>
                <a:latin typeface="Calibri"/>
              </a:rPr>
              <a:t>допродаж</a:t>
            </a:r>
            <a:r>
              <a:rPr sz="3200" b="0" i="0" dirty="0">
                <a:solidFill>
                  <a:srgbClr val="85C1E9"/>
                </a:solidFill>
                <a:latin typeface="Calibri"/>
              </a:rPr>
              <a:t> </a:t>
            </a:r>
            <a:r>
              <a:rPr sz="3200" b="0" i="0" dirty="0" err="1">
                <a:solidFill>
                  <a:srgbClr val="85C1E9"/>
                </a:solidFill>
                <a:latin typeface="Calibri"/>
              </a:rPr>
              <a:t>на</a:t>
            </a:r>
            <a:r>
              <a:rPr sz="3200" b="0" i="0" dirty="0">
                <a:solidFill>
                  <a:srgbClr val="85C1E9"/>
                </a:solidFill>
                <a:latin typeface="Calibri"/>
              </a:rPr>
              <a:t> +20%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794760"/>
            <a:ext cx="3474720" cy="38404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382219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Учебный проект  · 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1E2D40"/>
                </a:solidFill>
                <a:latin typeface="Calibri"/>
              </a:rPr>
              <a:t>Постановка</a:t>
            </a:r>
            <a:r>
              <a:rPr sz="2800" b="1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3600" b="1" i="0" dirty="0" err="1">
                <a:solidFill>
                  <a:srgbClr val="1E2D40"/>
                </a:solidFill>
                <a:latin typeface="Calibri"/>
              </a:rPr>
              <a:t>задачи</a:t>
            </a:r>
            <a:endParaRPr sz="3600" b="1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411480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64008" cy="2834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37490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2E86C1"/>
                </a:solidFill>
                <a:latin typeface="Calibri"/>
              </a:rPr>
              <a:t>Бизнес-цель</a:t>
            </a:r>
            <a:endParaRPr sz="2400" b="1" i="0" dirty="0">
              <a:solidFill>
                <a:srgbClr val="2E86C1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74903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1E2D40"/>
                </a:solidFill>
                <a:latin typeface="Calibri"/>
              </a:rPr>
              <a:t>Клиент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: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ритейлер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интернет-магазин</a:t>
            </a:r>
            <a:endParaRPr lang="ru-RU" sz="1700" b="0" dirty="0">
              <a:solidFill>
                <a:srgbClr val="1E2D40"/>
              </a:solidFill>
              <a:latin typeface="Calibri"/>
            </a:endParaRPr>
          </a:p>
          <a:p>
            <a:pPr algn="l"/>
            <a:endParaRPr sz="1700" b="0" dirty="0">
              <a:solidFill>
                <a:srgbClr val="1E2D40"/>
              </a:solidFill>
              <a:latin typeface="Calibri"/>
            </a:endParaRPr>
          </a:p>
          <a:p>
            <a:pPr algn="l"/>
            <a:r>
              <a:rPr sz="1700" b="1" dirty="0" err="1">
                <a:solidFill>
                  <a:srgbClr val="1E2D40"/>
                </a:solidFill>
                <a:latin typeface="Calibri"/>
              </a:rPr>
              <a:t>Цель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: +20%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выручки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от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 cross-sell / upsell</a:t>
            </a:r>
            <a:endParaRPr lang="ru-RU" sz="1700" b="0" dirty="0">
              <a:solidFill>
                <a:srgbClr val="1E2D40"/>
              </a:solidFill>
              <a:latin typeface="Calibri"/>
            </a:endParaRPr>
          </a:p>
          <a:p>
            <a:pPr algn="l"/>
            <a:endParaRPr sz="1700" b="0" dirty="0">
              <a:solidFill>
                <a:srgbClr val="1E2D40"/>
              </a:solidFill>
              <a:latin typeface="Calibri"/>
            </a:endParaRPr>
          </a:p>
          <a:p>
            <a:pPr algn="l"/>
            <a:r>
              <a:rPr sz="1700" b="1" dirty="0" err="1">
                <a:solidFill>
                  <a:srgbClr val="1E2D40"/>
                </a:solidFill>
                <a:latin typeface="Calibri"/>
              </a:rPr>
              <a:t>Решение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: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персональные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рекомендации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
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на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главной</a:t>
            </a:r>
            <a:r>
              <a:rPr sz="1700" b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E2D40"/>
                </a:solidFill>
                <a:latin typeface="Calibri"/>
              </a:rPr>
              <a:t>странице</a:t>
            </a:r>
            <a:endParaRPr sz="1700" b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16052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64008" cy="2834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28032" y="1078992"/>
            <a:ext cx="384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1ABC9C"/>
                </a:solidFill>
                <a:latin typeface="Calibri"/>
              </a:rPr>
              <a:t>Воронка</a:t>
            </a:r>
            <a:r>
              <a:rPr sz="1600" b="1" i="0" dirty="0">
                <a:solidFill>
                  <a:srgbClr val="1ABC9C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1ABC9C"/>
                </a:solidFill>
                <a:latin typeface="Calibri"/>
              </a:rPr>
              <a:t>пользователей</a:t>
            </a:r>
            <a:endParaRPr sz="1600" b="1" i="0" dirty="0">
              <a:solidFill>
                <a:srgbClr val="1ABC9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28032" y="1481328"/>
            <a:ext cx="3474720" cy="32918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8" y="1493592"/>
            <a:ext cx="34015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Calibri"/>
              </a:rPr>
              <a:t>Просмотр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  1 407 580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28032" y="1938528"/>
            <a:ext cx="1828800" cy="329184"/>
          </a:xfrm>
          <a:prstGeom prst="rect">
            <a:avLst/>
          </a:prstGeom>
          <a:solidFill>
            <a:srgbClr val="5DA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920785"/>
            <a:ext cx="1755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Calibri"/>
              </a:rPr>
              <a:t>В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корзину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 37 862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28032" y="2395728"/>
            <a:ext cx="914400" cy="32918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2356306"/>
            <a:ext cx="8412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FFFFFF"/>
                </a:solidFill>
                <a:latin typeface="Calibri"/>
              </a:rPr>
              <a:t>Покупка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  11 716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017520"/>
            <a:ext cx="3840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F8C9A"/>
                </a:solidFill>
                <a:latin typeface="Calibri"/>
              </a:rPr>
              <a:t>2.69% — </a:t>
            </a:r>
            <a:r>
              <a:rPr sz="1400" b="0" i="1" dirty="0" err="1">
                <a:solidFill>
                  <a:srgbClr val="7F8C9A"/>
                </a:solidFill>
                <a:latin typeface="Calibri"/>
              </a:rPr>
              <a:t>в</a:t>
            </a:r>
            <a:r>
              <a:rPr sz="1400" b="0" i="1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7F8C9A"/>
                </a:solidFill>
                <a:latin typeface="Calibri"/>
              </a:rPr>
              <a:t>корзину</a:t>
            </a:r>
            <a:r>
              <a:rPr sz="1400" b="0" i="1" dirty="0">
                <a:solidFill>
                  <a:srgbClr val="7F8C9A"/>
                </a:solidFill>
                <a:latin typeface="Calibri"/>
              </a:rPr>
              <a:t>  ·  0.83% — </a:t>
            </a:r>
            <a:r>
              <a:rPr sz="1400" b="0" i="1" dirty="0" err="1">
                <a:solidFill>
                  <a:srgbClr val="7F8C9A"/>
                </a:solidFill>
                <a:latin typeface="Calibri"/>
              </a:rPr>
              <a:t>покупка</a:t>
            </a:r>
            <a:endParaRPr sz="1400" b="0" i="1" dirty="0">
              <a:solidFill>
                <a:srgbClr val="7F8C9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" y="3977639"/>
            <a:ext cx="850392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45720" cy="7772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041648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3A5A78"/>
                </a:solidFill>
                <a:latin typeface="Calibri"/>
              </a:rPr>
              <a:t>Большинство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пользователей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заходили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только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один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раз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ничего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не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купили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данных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поведении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конкретных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людей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очень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мало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Лишь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0.83%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визитов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заканчиваются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покупкой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E2D40"/>
                </a:solidFill>
                <a:latin typeface="Calibri"/>
              </a:rPr>
              <a:t>Данные</a:t>
            </a:r>
            <a:endParaRPr sz="2800" b="1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A5A78"/>
                </a:solidFill>
                <a:latin typeface="Calibri"/>
              </a:rPr>
              <a:t>3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исходных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таблицы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·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Период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: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май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–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сентябрь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2015 · 137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дней</a:t>
            </a:r>
            <a:endParaRPr sz="1600" b="0" i="0" dirty="0">
              <a:solidFill>
                <a:srgbClr val="3A5A78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8892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64008" cy="2651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2E86C1"/>
                </a:solidFill>
                <a:latin typeface="Calibri"/>
              </a:rPr>
              <a:t>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08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9A"/>
                </a:solidFill>
                <a:latin typeface="Calibri"/>
              </a:rPr>
              <a:t>2 750 000 строк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19072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timestamp —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время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события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79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visitorid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— ID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пользователя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7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event — view /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addtocart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/ </a:t>
            </a:r>
            <a:r>
              <a:rPr lang="ru-RU" sz="1200" b="0" i="0" dirty="0">
                <a:solidFill>
                  <a:srgbClr val="1E2D40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transaction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27507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itemid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— ID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товара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46120" y="1005840"/>
            <a:ext cx="278892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005840"/>
            <a:ext cx="64008" cy="26517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1078992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3A5A78"/>
                </a:solidFill>
                <a:latin typeface="Calibri"/>
              </a:rPr>
              <a:t>item_properties</a:t>
            </a:r>
            <a:endParaRPr b="1" i="0" dirty="0">
              <a:solidFill>
                <a:srgbClr val="3A5A78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29000" y="1408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9A"/>
                </a:solidFill>
                <a:latin typeface="Calibri"/>
              </a:rPr>
              <a:t>20 000 000 строк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719072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timestamp,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itemid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, property,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011679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1 104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свойства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товаров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29000" y="2304287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Нехешированные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categoryid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,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689007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Остальные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зашифрованы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72200" y="1005840"/>
            <a:ext cx="2788920" cy="265176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1005840"/>
            <a:ext cx="64008" cy="2651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1078992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1ABC9C"/>
                </a:solidFill>
                <a:latin typeface="Calibri"/>
              </a:rPr>
              <a:t>category_tree</a:t>
            </a:r>
            <a:endParaRPr b="1" i="0" dirty="0">
              <a:solidFill>
                <a:srgbClr val="1ABC9C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55080" y="140817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8C9A"/>
                </a:solidFill>
                <a:latin typeface="Calibri"/>
              </a:rPr>
              <a:t>1 669 категорий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19072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categoryid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— ID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категории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5080" y="2011679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parentid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родительская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категория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64224" y="241714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5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уровней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иерархии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64224" y="268604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E2D40"/>
                </a:solidFill>
                <a:latin typeface="Calibri"/>
              </a:rPr>
              <a:t>· 25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корневых</a:t>
            </a:r>
            <a:r>
              <a:rPr sz="12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2D40"/>
                </a:solidFill>
                <a:latin typeface="Calibri"/>
              </a:rPr>
              <a:t>категорий</a:t>
            </a:r>
            <a:endParaRPr sz="12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3822191"/>
            <a:ext cx="8503920" cy="96012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822191"/>
            <a:ext cx="45720" cy="960120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895344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3A5A78"/>
                </a:solidFill>
                <a:latin typeface="Calibri"/>
              </a:rPr>
              <a:t>Почти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все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свойства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товаров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зашифрованы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из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всех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атрибутов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доступны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только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категория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статус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наличия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 21%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активных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товаров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не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имеют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даже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категории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Данные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охватывают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137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дней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достаточно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чтобы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увидеть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сезонность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обучить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модель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E2D40"/>
                </a:solidFill>
                <a:latin typeface="Calibri"/>
              </a:rPr>
              <a:t>Архитектура</a:t>
            </a:r>
            <a:r>
              <a:rPr sz="2800" b="1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E2D40"/>
                </a:solidFill>
                <a:latin typeface="Calibri"/>
              </a:rPr>
              <a:t>решения</a:t>
            </a:r>
            <a:endParaRPr sz="2800" b="1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920240" cy="105156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391334"/>
            <a:ext cx="17830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err="1">
                <a:solidFill>
                  <a:srgbClr val="FFFFFF"/>
                </a:solidFill>
                <a:latin typeface="Calibri"/>
              </a:rPr>
              <a:t>Данные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lang="ru-RU" sz="1600" b="1" i="0" dirty="0">
                <a:solidFill>
                  <a:srgbClr val="FFFFFF"/>
                </a:solidFill>
                <a:latin typeface="Calibri"/>
              </a:rPr>
              <a:t>(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235 000</a:t>
            </a:r>
            <a:r>
              <a:rPr lang="ru-RU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Calibri"/>
              </a:rPr>
              <a:t>товаров</a:t>
            </a:r>
            <a:r>
              <a:rPr lang="ru-RU" sz="1600" b="1" i="0" dirty="0">
                <a:solidFill>
                  <a:srgbClr val="FFFFFF"/>
                </a:solidFill>
                <a:latin typeface="Calibri"/>
              </a:rPr>
              <a:t>)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0" y="15361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188720"/>
            <a:ext cx="1920240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1457462"/>
            <a:ext cx="1783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Calibri"/>
              </a:rPr>
              <a:t>Отбор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кандидатов</a:t>
            </a:r>
            <a:endParaRPr lang="ru-RU" sz="14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300" b="1" i="0" dirty="0">
                <a:solidFill>
                  <a:srgbClr val="FFFFFF"/>
                </a:solidFill>
                <a:latin typeface="Calibri"/>
              </a:rPr>
              <a:t>(100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пользователя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361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188720"/>
            <a:ext cx="1920240" cy="105156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2" y="1391334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err="1">
                <a:solidFill>
                  <a:srgbClr val="FFFFFF"/>
                </a:solidFill>
                <a:latin typeface="Calibri"/>
              </a:rPr>
              <a:t>Ранжирование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LightGBM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15361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88259" y="1188720"/>
            <a:ext cx="1920240" cy="10515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63740" y="1375944"/>
            <a:ext cx="1783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>
                <a:solidFill>
                  <a:srgbClr val="FFFFFF"/>
                </a:solidFill>
                <a:latin typeface="Calibri"/>
              </a:rPr>
              <a:t>Топ-3</a:t>
            </a:r>
            <a:r>
              <a:rPr lang="ru-RU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Calibri"/>
              </a:rPr>
              <a:t>рекомендации</a:t>
            </a:r>
            <a:endParaRPr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320" y="2359152"/>
            <a:ext cx="192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7F8C9A"/>
                </a:solidFill>
                <a:latin typeface="Calibri"/>
              </a:rPr>
              <a:t>Исходные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события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пользователей</a:t>
            </a:r>
            <a:endParaRPr sz="1400" b="0" i="0" dirty="0">
              <a:solidFill>
                <a:srgbClr val="7F8C9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4600" y="2359152"/>
            <a:ext cx="192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7F8C9A"/>
                </a:solidFill>
                <a:latin typeface="Calibri"/>
              </a:rPr>
              <a:t>Популярные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товары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
+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похожие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по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сессиям</a:t>
            </a:r>
            <a:endParaRPr sz="1400" b="0" i="0" dirty="0">
              <a:solidFill>
                <a:srgbClr val="7F8C9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0" y="2359152"/>
            <a:ext cx="192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7F8C9A"/>
                </a:solidFill>
                <a:latin typeface="Calibri"/>
              </a:rPr>
              <a:t>18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признаков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товара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и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пользователя</a:t>
            </a:r>
            <a:endParaRPr sz="1400" b="0" i="0" dirty="0">
              <a:solidFill>
                <a:srgbClr val="7F8C9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60" y="2359152"/>
            <a:ext cx="192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7F8C9A"/>
                </a:solidFill>
                <a:latin typeface="Calibri"/>
              </a:rPr>
              <a:t>Финальная</a:t>
            </a:r>
            <a:r>
              <a:rPr sz="1400" b="0" i="0" dirty="0">
                <a:solidFill>
                  <a:srgbClr val="7F8C9A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7F8C9A"/>
                </a:solidFill>
                <a:latin typeface="Calibri"/>
              </a:rPr>
              <a:t>выдача</a:t>
            </a:r>
            <a:endParaRPr sz="1400" b="0" i="0" dirty="0">
              <a:solidFill>
                <a:srgbClr val="7F8C9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8503920" cy="141732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45720" cy="1417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090672"/>
            <a:ext cx="82296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3A5A78"/>
                </a:solidFill>
                <a:latin typeface="Calibri"/>
              </a:rPr>
              <a:t>Задача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разбита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на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два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шага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Сначала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отбираем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100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товаров-кандидатов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для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каждого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пользователя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самые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популярные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магазине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плюс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что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часто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смотрят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вместе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с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товарами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которые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он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уже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видел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Затем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модель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ранжирует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эти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100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товаров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выбирает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топ-3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наиболее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вероятных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к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покупке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.
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Такой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подход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выбран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потому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что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перебирать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все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235 000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товаров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для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каждого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пользователя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слишком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долго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двухэтапная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схема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делает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это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быстро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A5A78"/>
                </a:solidFill>
                <a:latin typeface="Calibri"/>
              </a:rPr>
              <a:t>точно</a:t>
            </a:r>
            <a:r>
              <a:rPr sz="1400" b="0" i="0" dirty="0">
                <a:solidFill>
                  <a:srgbClr val="3A5A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i="0" dirty="0">
                <a:solidFill>
                  <a:srgbClr val="1E2D40"/>
                </a:solidFill>
                <a:latin typeface="Calibri"/>
              </a:rPr>
              <a:t>Наиболее важные </a:t>
            </a:r>
            <a:r>
              <a:rPr lang="ru-RU" sz="2800" b="1" dirty="0">
                <a:solidFill>
                  <a:srgbClr val="1E2D40"/>
                </a:solidFill>
                <a:latin typeface="Calibri"/>
              </a:rPr>
              <a:t>п</a:t>
            </a:r>
            <a:r>
              <a:rPr sz="2800" b="1" i="0" dirty="0" err="1">
                <a:solidFill>
                  <a:srgbClr val="1E2D40"/>
                </a:solidFill>
                <a:latin typeface="Calibri"/>
              </a:rPr>
              <a:t>ризнаки</a:t>
            </a:r>
            <a:r>
              <a:rPr sz="2800" b="1" i="0" dirty="0">
                <a:solidFill>
                  <a:srgbClr val="1E2D40"/>
                </a:solidFill>
                <a:latin typeface="Calibri"/>
              </a:rPr>
              <a:t> </a:t>
            </a:r>
            <a:r>
              <a:rPr lang="ru-RU" sz="2800" b="1" i="0" dirty="0">
                <a:solidFill>
                  <a:srgbClr val="1E2D40"/>
                </a:solidFill>
                <a:latin typeface="Calibri"/>
              </a:rPr>
              <a:t>для </a:t>
            </a:r>
            <a:r>
              <a:rPr sz="2800" b="1" i="0" dirty="0" err="1">
                <a:solidFill>
                  <a:srgbClr val="1E2D40"/>
                </a:solidFill>
                <a:latin typeface="Calibri"/>
              </a:rPr>
              <a:t>модели</a:t>
            </a:r>
            <a:endParaRPr sz="2800" b="1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A5A78"/>
                </a:solidFill>
                <a:latin typeface="Calibri"/>
              </a:rPr>
              <a:t>Признаки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для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модели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ранжирования</a:t>
            </a:r>
            <a:endParaRPr sz="1600" b="0" i="0" dirty="0">
              <a:solidFill>
                <a:srgbClr val="3A5A78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65" y="1001267"/>
            <a:ext cx="278892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64008" cy="26060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2514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2E86C1"/>
                </a:solidFill>
                <a:latin typeface="Calibri"/>
              </a:rPr>
              <a:t>Признаки</a:t>
            </a:r>
            <a:r>
              <a:rPr sz="1600" b="1" i="0" dirty="0">
                <a:solidFill>
                  <a:srgbClr val="2E86C1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2E86C1"/>
                </a:solidFill>
                <a:latin typeface="Calibri"/>
              </a:rPr>
              <a:t>товара</a:t>
            </a:r>
            <a:endParaRPr sz="1600" b="1" i="0" dirty="0">
              <a:solidFill>
                <a:srgbClr val="2E86C1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9204" y="1499722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Количество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просмотров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" y="1807499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Добавлений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в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корзину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" y="2065203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Количество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покупок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331801"/>
            <a:ext cx="25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Соотношение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корзина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/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просмотры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2838291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Популярность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за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7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и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30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дней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3121619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Категория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глубина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размер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46120" y="1005840"/>
            <a:ext cx="278892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46120" y="1005840"/>
            <a:ext cx="64008" cy="260604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29000" y="1060704"/>
            <a:ext cx="2514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3A5A78"/>
                </a:solidFill>
                <a:latin typeface="Calibri"/>
              </a:rPr>
              <a:t>Признаки</a:t>
            </a:r>
            <a:r>
              <a:rPr sz="1600" b="1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3A5A78"/>
                </a:solidFill>
                <a:latin typeface="Calibri"/>
              </a:rPr>
              <a:t>пользователя</a:t>
            </a:r>
            <a:endParaRPr sz="1600" b="1" i="0" dirty="0">
              <a:solidFill>
                <a:srgbClr val="3A5A78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29000" y="1719072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Всего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просмотров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29000" y="2011679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Всего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покупок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29000" y="2304287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Конверсия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пользователя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29000" y="2596895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Любимая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категория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72200" y="1005840"/>
            <a:ext cx="2788920" cy="2606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1005840"/>
            <a:ext cx="64008" cy="2606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1060704"/>
            <a:ext cx="2514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1ABC9C"/>
                </a:solidFill>
                <a:latin typeface="Calibri"/>
              </a:rPr>
              <a:t>Признаки</a:t>
            </a:r>
            <a:r>
              <a:rPr sz="1600" b="1" i="0" dirty="0">
                <a:solidFill>
                  <a:srgbClr val="1ABC9C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1ABC9C"/>
                </a:solidFill>
                <a:latin typeface="Calibri"/>
              </a:rPr>
              <a:t>пары</a:t>
            </a:r>
            <a:r>
              <a:rPr sz="1600" b="1" i="0" dirty="0">
                <a:solidFill>
                  <a:srgbClr val="1ABC9C"/>
                </a:solidFill>
                <a:latin typeface="Calibri"/>
              </a:rPr>
              <a:t>
</a:t>
            </a:r>
            <a:r>
              <a:rPr sz="1600" b="1" i="0" dirty="0" err="1">
                <a:solidFill>
                  <a:srgbClr val="1ABC9C"/>
                </a:solidFill>
                <a:latin typeface="Calibri"/>
              </a:rPr>
              <a:t>пользователь</a:t>
            </a:r>
            <a:r>
              <a:rPr sz="1600" b="1" i="0" dirty="0">
                <a:solidFill>
                  <a:srgbClr val="1ABC9C"/>
                </a:solidFill>
                <a:latin typeface="Calibri"/>
              </a:rPr>
              <a:t>–</a:t>
            </a:r>
            <a:r>
              <a:rPr sz="1600" b="1" i="0" dirty="0" err="1">
                <a:solidFill>
                  <a:srgbClr val="1ABC9C"/>
                </a:solidFill>
                <a:latin typeface="Calibri"/>
              </a:rPr>
              <a:t>товар</a:t>
            </a:r>
            <a:endParaRPr sz="1600" b="1" i="0" dirty="0">
              <a:solidFill>
                <a:srgbClr val="1ABC9C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55080" y="1719072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Сколько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раз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смотрел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товар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55080" y="2011679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Добавлял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ли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в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корзину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55080" y="2304287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Покупал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ли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раньше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2596895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D40"/>
                </a:solidFill>
                <a:latin typeface="Calibri"/>
              </a:rPr>
              <a:t>·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Макс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.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тип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D40"/>
                </a:solidFill>
                <a:latin typeface="Calibri"/>
              </a:rPr>
              <a:t>взаимодействия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20040" y="3749039"/>
            <a:ext cx="8503920" cy="1024128"/>
          </a:xfrm>
          <a:prstGeom prst="rect">
            <a:avLst/>
          </a:prstGeom>
          <a:solidFill>
            <a:srgbClr val="E8F4FD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749039"/>
            <a:ext cx="45720" cy="1024128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822191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rgbClr val="3A5A78"/>
                </a:solidFill>
                <a:latin typeface="Calibri"/>
              </a:rPr>
              <a:t>Из-за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cold start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наиболее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важными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оказались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признаки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самого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товара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популярность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категория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Пользовательские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признаки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слабее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: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у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большинства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слишком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мало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истории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Захешированные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свойства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товаров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убраны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модель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их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не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3A5A78"/>
                </a:solidFill>
                <a:latin typeface="Calibri"/>
              </a:rPr>
              <a:t>использовала</a:t>
            </a:r>
            <a:r>
              <a:rPr sz="1600" b="0" i="1" dirty="0">
                <a:solidFill>
                  <a:srgbClr val="3A5A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D40"/>
                </a:solidFill>
                <a:latin typeface="Calibri"/>
              </a:rPr>
              <a:t>Эксперименты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A5A78"/>
                </a:solidFill>
                <a:latin typeface="Calibri"/>
              </a:rPr>
              <a:t>Сравнение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моделей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— Precision@3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97280"/>
            <a:ext cx="6400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0" y="2861706"/>
            <a:ext cx="1280160" cy="430133"/>
          </a:xfrm>
          <a:prstGeom prst="rect">
            <a:avLst/>
          </a:prstGeom>
          <a:solidFill>
            <a:srgbClr val="7F8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258738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F8C9A"/>
                </a:solidFill>
                <a:latin typeface="Calibri"/>
              </a:rPr>
              <a:t>0.0049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37559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1E2D40"/>
                </a:solidFill>
                <a:latin typeface="Calibri"/>
              </a:rPr>
              <a:t>ALS</a:t>
            </a:r>
            <a:r>
              <a:rPr lang="ru-RU" sz="1400" b="0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(baseline)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720535"/>
            <a:ext cx="1280160" cy="1571304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144621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5C1E9"/>
                </a:solidFill>
                <a:latin typeface="Calibri"/>
              </a:rPr>
              <a:t>0.0179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337559"/>
            <a:ext cx="1280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1E2D40"/>
                </a:solidFill>
                <a:latin typeface="Calibri"/>
              </a:rPr>
              <a:t>XGBoost</a:t>
            </a:r>
            <a:endParaRPr sz="1400" b="0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2160" y="1518635"/>
            <a:ext cx="1280160" cy="177320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24431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6C1"/>
                </a:solidFill>
                <a:latin typeface="Calibri"/>
              </a:rPr>
              <a:t>0.0202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928" y="3337559"/>
            <a:ext cx="1664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1E2D40"/>
                </a:solidFill>
                <a:latin typeface="Calibri"/>
              </a:rPr>
              <a:t>LightGBM</a:t>
            </a:r>
            <a:r>
              <a:rPr sz="1400" b="0" i="0" dirty="0">
                <a:solidFill>
                  <a:srgbClr val="1E2D40"/>
                </a:solidFill>
                <a:latin typeface="Calibri"/>
              </a:rPr>
              <a:t> v5</a:t>
            </a:r>
            <a:r>
              <a:rPr lang="ru-RU" sz="1000" dirty="0">
                <a:solidFill>
                  <a:srgbClr val="1E2D40"/>
                </a:solidFill>
                <a:latin typeface="Calibri"/>
              </a:rPr>
              <a:t> </a:t>
            </a:r>
            <a:r>
              <a:rPr sz="1000" b="0" i="0" dirty="0">
                <a:solidFill>
                  <a:srgbClr val="1E2D40"/>
                </a:solidFill>
                <a:latin typeface="Calibri"/>
              </a:rPr>
              <a:t>(</a:t>
            </a:r>
            <a:r>
              <a:rPr sz="1000" b="0" i="0" dirty="0" err="1">
                <a:solidFill>
                  <a:srgbClr val="1E2D40"/>
                </a:solidFill>
                <a:latin typeface="Calibri"/>
              </a:rPr>
              <a:t>лучшая</a:t>
            </a:r>
            <a:r>
              <a:rPr sz="1000" b="0" i="0" dirty="0">
                <a:solidFill>
                  <a:srgbClr val="1E2D40"/>
                </a:solidFill>
                <a:latin typeface="Calibri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536192"/>
            <a:ext cx="640080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1399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6B35"/>
                </a:solidFill>
                <a:latin typeface="Calibri"/>
              </a:rPr>
              <a:t>← цель 0.02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8503920" cy="109728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3703320"/>
            <a:ext cx="45720" cy="10972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776472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3A5A78"/>
                </a:solidFill>
                <a:latin typeface="Calibri"/>
              </a:rPr>
              <a:t>LightGBM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градиентный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бустинг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,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строит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ансамбль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решающих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деревьев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Хорошо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работает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с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разреженными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данными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и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большим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дисбалансом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классов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.
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Покупки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редкое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событие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: 1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на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85 000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взаимодействий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Модель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специально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настроена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замечать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такие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редкие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3A5A78"/>
                </a:solidFill>
                <a:latin typeface="Calibri"/>
              </a:rPr>
              <a:t>сигналы</a:t>
            </a:r>
            <a:r>
              <a:rPr sz="1600" b="0" i="0" dirty="0">
                <a:solidFill>
                  <a:srgbClr val="3A5A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1E2D40"/>
                </a:solidFill>
                <a:latin typeface="Calibri"/>
              </a:rPr>
              <a:t>Итоговая</a:t>
            </a:r>
            <a:r>
              <a:rPr sz="2800" b="1" i="0" dirty="0">
                <a:solidFill>
                  <a:srgbClr val="1E2D40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1E2D40"/>
                </a:solidFill>
                <a:latin typeface="Calibri"/>
              </a:rPr>
              <a:t>метрика</a:t>
            </a:r>
            <a:endParaRPr sz="2800" b="1" i="0" dirty="0">
              <a:solidFill>
                <a:srgbClr val="1E2D40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2E86C1"/>
                </a:solidFill>
                <a:latin typeface="Calibri"/>
              </a:rPr>
              <a:t>Precision@3 = 0.0202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560320" cy="1143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93392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Calibri"/>
              </a:rPr>
              <a:t>×4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8716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 err="1">
                <a:solidFill>
                  <a:srgbClr val="FFFFFF"/>
                </a:solidFill>
                <a:latin typeface="Calibri"/>
              </a:rPr>
              <a:t>к</a:t>
            </a:r>
            <a:r>
              <a:rPr sz="2000" b="0" i="0" dirty="0">
                <a:solidFill>
                  <a:srgbClr val="FFFFFF"/>
                </a:solidFill>
                <a:latin typeface="Calibri"/>
              </a:rPr>
              <a:t> ALS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920240"/>
            <a:ext cx="2560320" cy="1143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993392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487168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dirty="0" err="1">
                <a:solidFill>
                  <a:srgbClr val="FFFFFF"/>
                </a:solidFill>
                <a:latin typeface="Calibri"/>
              </a:rPr>
              <a:t>покрытие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покупок</a:t>
            </a:r>
            <a:r>
              <a:rPr b="0" i="0" dirty="0">
                <a:solidFill>
                  <a:srgbClr val="FFFFFF"/>
                </a:solidFill>
                <a:latin typeface="Calibri"/>
              </a:rPr>
              <a:t>
</a:t>
            </a:r>
            <a:r>
              <a:rPr b="0" i="0" dirty="0" err="1">
                <a:solidFill>
                  <a:srgbClr val="FFFFFF"/>
                </a:solidFill>
                <a:latin typeface="Calibri"/>
              </a:rPr>
              <a:t>кандидатами</a:t>
            </a:r>
            <a:endParaRPr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2200" y="1920240"/>
            <a:ext cx="2560320" cy="1143000"/>
          </a:xfrm>
          <a:prstGeom prst="rect">
            <a:avLst/>
          </a:prstGeom>
          <a:solidFill>
            <a:srgbClr val="3A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993392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487168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 err="1">
                <a:solidFill>
                  <a:srgbClr val="FFFFFF"/>
                </a:solidFill>
                <a:latin typeface="Calibri"/>
              </a:rPr>
              <a:t>Цель</a:t>
            </a:r>
            <a:r>
              <a:rPr sz="1600" b="0" i="0" dirty="0">
                <a:solidFill>
                  <a:srgbClr val="FFFFFF"/>
                </a:solidFill>
                <a:latin typeface="Calibri"/>
              </a:rPr>
              <a:t> &gt;0.02
</a:t>
            </a:r>
            <a:r>
              <a:rPr sz="1600" b="0" i="0" dirty="0" err="1">
                <a:solidFill>
                  <a:srgbClr val="FFFFFF"/>
                </a:solidFill>
                <a:latin typeface="Calibri"/>
              </a:rPr>
              <a:t>достигнута</a:t>
            </a:r>
            <a:endParaRPr sz="16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0040" y="3246120"/>
            <a:ext cx="8503920" cy="1188720"/>
          </a:xfrm>
          <a:prstGeom prst="rect">
            <a:avLst/>
          </a:prstGeom>
          <a:solidFill>
            <a:srgbClr val="E8F4FD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246120"/>
            <a:ext cx="45720" cy="1188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3A5A78"/>
                </a:solidFill>
                <a:latin typeface="Calibri"/>
              </a:rPr>
              <a:t>Из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каждых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100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пользователей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которым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система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покажет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3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рекомендации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примерно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2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купят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один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из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предложенных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товаров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.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Без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рекомендаций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этот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выбор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был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бы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случайным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.
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При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1.4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млн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пользователей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система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обеспечивает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персонализацию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в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масштабе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каждый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пользователь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получает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рекомендации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на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основе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своего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поведения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,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а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не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единый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список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для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3A5A78"/>
                </a:solidFill>
                <a:latin typeface="Calibri"/>
              </a:rPr>
              <a:t>всех</a:t>
            </a:r>
            <a:r>
              <a:rPr sz="1500" b="0" i="0" dirty="0">
                <a:solidFill>
                  <a:srgbClr val="3A5A7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593</Words>
  <Application>Microsoft Macintosh PowerPoint</Application>
  <PresentationFormat>Экран (16:9)</PresentationFormat>
  <Paragraphs>90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2026-04-02T17:26:41Z</dcterms:modified>
  <cp:category/>
</cp:coreProperties>
</file>